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4" r:id="rId4"/>
    <p:sldId id="260" r:id="rId5"/>
    <p:sldId id="261" r:id="rId6"/>
    <p:sldId id="262" r:id="rId7"/>
    <p:sldId id="263" r:id="rId8"/>
    <p:sldId id="264" r:id="rId9"/>
    <p:sldId id="285" r:id="rId10"/>
    <p:sldId id="276" r:id="rId11"/>
    <p:sldId id="275" r:id="rId12"/>
    <p:sldId id="265" r:id="rId13"/>
    <p:sldId id="259" r:id="rId14"/>
    <p:sldId id="282" r:id="rId15"/>
    <p:sldId id="266" r:id="rId16"/>
    <p:sldId id="267" r:id="rId17"/>
    <p:sldId id="279" r:id="rId18"/>
    <p:sldId id="269" r:id="rId19"/>
    <p:sldId id="270" r:id="rId20"/>
    <p:sldId id="271" r:id="rId21"/>
    <p:sldId id="272" r:id="rId22"/>
    <p:sldId id="273" r:id="rId23"/>
    <p:sldId id="277" r:id="rId24"/>
    <p:sldId id="287" r:id="rId25"/>
    <p:sldId id="286" r:id="rId26"/>
    <p:sldId id="288" r:id="rId27"/>
    <p:sldId id="278" r:id="rId28"/>
    <p:sldId id="280" r:id="rId29"/>
    <p:sldId id="281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aTsrmEYYTJ0gDV+cC6Blcb1Sc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dt" idx="10"/>
          </p:nvPr>
        </p:nvSpPr>
        <p:spPr>
          <a:xfrm>
            <a:off x="1396465" y="4809105"/>
            <a:ext cx="4004310" cy="55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760288" y="2575134"/>
            <a:ext cx="7886700" cy="898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" name="Google Shape;1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989" y="16134"/>
            <a:ext cx="896302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>
            <a:spLocks noGrp="1"/>
          </p:cNvSpPr>
          <p:nvPr>
            <p:ph type="title"/>
          </p:nvPr>
        </p:nvSpPr>
        <p:spPr>
          <a:xfrm>
            <a:off x="628650" y="409676"/>
            <a:ext cx="5040228" cy="48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28650" y="1386839"/>
            <a:ext cx="7886700" cy="4617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ftr" idx="11"/>
          </p:nvPr>
        </p:nvSpPr>
        <p:spPr>
          <a:xfrm>
            <a:off x="4127500" y="6356348"/>
            <a:ext cx="29158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sldNum" idx="12"/>
          </p:nvPr>
        </p:nvSpPr>
        <p:spPr>
          <a:xfrm>
            <a:off x="7043352" y="6356351"/>
            <a:ext cx="14719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r>
              <a:rPr lang="es-AR"/>
              <a:t>/TotNum</a:t>
            </a:r>
            <a:endParaRPr/>
          </a:p>
        </p:txBody>
      </p:sp>
      <p:sp>
        <p:nvSpPr>
          <p:cNvPr id="24" name="Google Shape;24;p7"/>
          <p:cNvSpPr/>
          <p:nvPr/>
        </p:nvSpPr>
        <p:spPr>
          <a:xfrm>
            <a:off x="628650" y="1027907"/>
            <a:ext cx="3131692" cy="57219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7"/>
          <p:cNvCxnSpPr/>
          <p:nvPr/>
        </p:nvCxnSpPr>
        <p:spPr>
          <a:xfrm>
            <a:off x="3760342" y="1027907"/>
            <a:ext cx="194181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cxnSp>
      <p:sp>
        <p:nvSpPr>
          <p:cNvPr id="26" name="Google Shape;26;p7"/>
          <p:cNvSpPr/>
          <p:nvPr/>
        </p:nvSpPr>
        <p:spPr>
          <a:xfrm>
            <a:off x="628650" y="6238046"/>
            <a:ext cx="7886700" cy="57219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4743450" y="6356350"/>
            <a:ext cx="15536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7"/>
          <p:cNvSpPr txBox="1"/>
          <p:nvPr/>
        </p:nvSpPr>
        <p:spPr>
          <a:xfrm>
            <a:off x="628650" y="6356350"/>
            <a:ext cx="2514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sz="1000">
                <a:latin typeface="Arial"/>
              </a:rPr>
              <a:t>Acevedo, Tomás</a:t>
            </a:r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6630" y="56584"/>
            <a:ext cx="2458720" cy="1330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 de sección">
  <p:cSld name="Final de secció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/>
        </p:nvSpPr>
        <p:spPr>
          <a:xfrm>
            <a:off x="689809" y="2606040"/>
            <a:ext cx="782554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3000" b="1">
                <a:latin typeface="Arial"/>
              </a:rPr>
              <a:t>Preguntas</a:t>
            </a:r>
          </a:p>
        </p:txBody>
      </p:sp>
      <p:sp>
        <p:nvSpPr>
          <p:cNvPr id="32" name="Google Shape;32;p8"/>
          <p:cNvSpPr txBox="1">
            <a:spLocks noGrp="1"/>
          </p:cNvSpPr>
          <p:nvPr>
            <p:ph type="subTitle" idx="1"/>
          </p:nvPr>
        </p:nvSpPr>
        <p:spPr>
          <a:xfrm>
            <a:off x="1142999" y="3546816"/>
            <a:ext cx="6858000" cy="973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1066" y="66934"/>
            <a:ext cx="896302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2575134"/>
            <a:ext cx="8530209" cy="898934"/>
          </a:xfrm>
        </p:spPr>
        <p:txBody>
          <a:bodyPr/>
          <a:lstStyle/>
          <a:p>
            <a:r>
              <a:rPr lang="es-AR" sz="2800" b="1" dirty="0"/>
              <a:t>Super </a:t>
            </a:r>
            <a:r>
              <a:rPr lang="es-AR" sz="2800" b="1" dirty="0" err="1"/>
              <a:t>Calculator</a:t>
            </a:r>
            <a:r>
              <a:rPr lang="es-AR" sz="2800" b="1" dirty="0"/>
              <a:t> Room </a:t>
            </a:r>
            <a:r>
              <a:rPr lang="es-AR" sz="2800" b="1" dirty="0" err="1"/>
              <a:t>Oriented</a:t>
            </a:r>
            <a:r>
              <a:rPr lang="es-AR" sz="2800" b="1" dirty="0"/>
              <a:t> </a:t>
            </a:r>
            <a:r>
              <a:rPr lang="es-AR" sz="2800" b="1" dirty="0" err="1"/>
              <a:t>Treatment</a:t>
            </a:r>
            <a:r>
              <a:rPr lang="es-AR" sz="2800" b="1" dirty="0"/>
              <a:t> </a:t>
            </a:r>
            <a:r>
              <a:rPr lang="es-AR" sz="2800" b="1" dirty="0" err="1"/>
              <a:t>Optimyzer</a:t>
            </a:r>
            <a:endParaRPr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57175" y="3565508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202020"/>
                </a:solidFill>
                <a:latin typeface="Arial"/>
              </a:rPr>
              <a:t>Predicción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elementos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finitos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figuras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mérito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modales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y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optimización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forma y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fuentes</a:t>
            </a:r>
            <a:endParaRPr sz="1500" b="0"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7175" y="457134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Arial"/>
              </a:rPr>
              <a:t>Acevedo, Tomás  ·  </a:t>
            </a:r>
            <a:r>
              <a:rPr sz="1500" b="1" dirty="0" err="1">
                <a:solidFill>
                  <a:srgbClr val="202020"/>
                </a:solidFill>
                <a:latin typeface="Arial"/>
              </a:rPr>
              <a:t>Legajo</a:t>
            </a:r>
            <a:r>
              <a:rPr sz="1500" b="1" dirty="0">
                <a:solidFill>
                  <a:srgbClr val="202020"/>
                </a:solidFill>
                <a:latin typeface="Arial"/>
              </a:rPr>
              <a:t> 51323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7175" y="4790914"/>
            <a:ext cx="7772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555555"/>
                </a:solidFill>
                <a:latin typeface="Arial"/>
              </a:rPr>
              <a:t>UNTREF · Ingeniería de Sonido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2200" b="1" dirty="0"/>
              <a:t>Acústica </a:t>
            </a:r>
            <a:r>
              <a:rPr sz="2200" b="1" dirty="0"/>
              <a:t>modal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930" y="1234441"/>
            <a:ext cx="7886700" cy="667512"/>
          </a:xfrm>
        </p:spPr>
        <p:txBody>
          <a:bodyPr/>
          <a:lstStyle/>
          <a:p>
            <a:pPr marL="76200" indent="0">
              <a:buNone/>
            </a:pPr>
            <a:r>
              <a:rPr lang="es-AR" dirty="0"/>
              <a:t>¿En qué banda se enfoca el “problema” acústico?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1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110" y="1998502"/>
            <a:ext cx="2806065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Por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debajo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la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frecuencia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Schroeder el campo es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resonante</a:t>
            </a:r>
            <a:r>
              <a:rPr sz="1500" dirty="0">
                <a:solidFill>
                  <a:srgbClr val="202020"/>
                </a:solidFill>
                <a:latin typeface="Arial"/>
              </a:rPr>
              <a:t>, no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difuso</a:t>
            </a:r>
            <a:r>
              <a:rPr sz="1500" dirty="0">
                <a:solidFill>
                  <a:srgbClr val="202020"/>
                </a:solidFill>
                <a:latin typeface="Arial"/>
              </a:rPr>
              <a:t>.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 Este valor en Hz depende de las dimensiones del recinto.</a:t>
            </a:r>
            <a:endParaRPr lang="es-AR" sz="1500" dirty="0">
              <a:solidFill>
                <a:srgbClr val="202020"/>
              </a:solidFill>
            </a:endParaRPr>
          </a:p>
          <a:p>
            <a:pPr marL="180975" indent="-180975">
              <a:spcAft>
                <a:spcPts val="600"/>
              </a:spcAft>
            </a:pPr>
            <a:endParaRPr sz="1500" dirty="0">
              <a:solidFill>
                <a:srgbClr val="202020"/>
              </a:solidFill>
              <a:latin typeface="Arial"/>
            </a:endParaRPr>
          </a:p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Cada modo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concentra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energía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en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frecuencias</a:t>
            </a:r>
            <a:r>
              <a:rPr sz="1500" dirty="0">
                <a:solidFill>
                  <a:srgbClr val="202020"/>
                </a:solidFill>
                <a:latin typeface="Arial"/>
              </a:rPr>
              <a:t> y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posiciones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fijas</a:t>
            </a:r>
            <a:r>
              <a:rPr sz="1500" dirty="0">
                <a:solidFill>
                  <a:srgbClr val="202020"/>
                </a:solidFill>
                <a:latin typeface="Arial"/>
              </a:rPr>
              <a:t>.</a:t>
            </a:r>
            <a:endParaRPr lang="es-AR" sz="1500" dirty="0">
              <a:solidFill>
                <a:srgbClr val="202020"/>
              </a:solidFill>
              <a:latin typeface="Arial"/>
            </a:endParaRPr>
          </a:p>
          <a:p>
            <a:pPr marL="180975" indent="-180975">
              <a:spcAft>
                <a:spcPts val="600"/>
              </a:spcAft>
            </a:pPr>
            <a:endParaRPr lang="es-AR" sz="1500" dirty="0">
              <a:solidFill>
                <a:srgbClr val="202020"/>
              </a:solidFill>
            </a:endParaRP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Se puede determinar con cálculo basado en la teoría ondulatoria la frecuencia y amplitud de cada modo.</a:t>
            </a:r>
            <a:endParaRPr lang="es-AR" sz="15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endParaRPr lang="es-AR" sz="1500" dirty="0">
              <a:solidFill>
                <a:srgbClr val="202020"/>
              </a:solidFill>
              <a:latin typeface="Arial"/>
            </a:endParaRPr>
          </a:p>
        </p:txBody>
      </p:sp>
      <p:pic>
        <p:nvPicPr>
          <p:cNvPr id="7" name="Picture 6" descr="fig5_heatmap_s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1801143"/>
            <a:ext cx="5354955" cy="41009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31970" y="5825400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Arial"/>
              </a:rPr>
              <a:t>Modo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tangencial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(1,1,0):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nodos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oscuros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antinodos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en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las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esquinas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15503-27C9-9943-C59B-1ABEAA00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217D4-C457-7339-9E1C-F3494CBF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2200" b="1" dirty="0"/>
              <a:t>Acústica </a:t>
            </a:r>
            <a:r>
              <a:rPr sz="2200" b="1" dirty="0"/>
              <a:t>modal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E67AD-9682-63A4-0586-4E85E1203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1234441"/>
            <a:ext cx="7886700" cy="667512"/>
          </a:xfrm>
        </p:spPr>
        <p:txBody>
          <a:bodyPr/>
          <a:lstStyle/>
          <a:p>
            <a:pPr marL="76200" indent="0">
              <a:buNone/>
            </a:pPr>
            <a:r>
              <a:rPr lang="es-AR" dirty="0"/>
              <a:t>¿En qué me afecta?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18FCD-13F4-2567-30E8-E27372F830AB}"/>
              </a:ext>
            </a:extLst>
          </p:cNvPr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CB02C-4A27-156E-C775-2FC104C47560}"/>
              </a:ext>
            </a:extLst>
          </p:cNvPr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1 / 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52D0D0-840F-7A0C-8450-13D4ABF06EEF}"/>
              </a:ext>
            </a:extLst>
          </p:cNvPr>
          <p:cNvSpPr txBox="1"/>
          <p:nvPr/>
        </p:nvSpPr>
        <p:spPr>
          <a:xfrm>
            <a:off x="882015" y="1987598"/>
            <a:ext cx="280416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</a:t>
            </a:r>
            <a:r>
              <a:rPr lang="es-AR" sz="1500" dirty="0">
                <a:solidFill>
                  <a:srgbClr val="202020"/>
                </a:solidFill>
              </a:rPr>
              <a:t>El efecto es de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coloración</a:t>
            </a:r>
            <a:r>
              <a:rPr sz="1500" dirty="0">
                <a:solidFill>
                  <a:srgbClr val="202020"/>
                </a:solidFill>
                <a:latin typeface="Arial"/>
              </a:rPr>
              <a:t>,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 hay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mínimos y máximos en el punto de escucha para distintas frecuencias</a:t>
            </a:r>
            <a:r>
              <a:rPr sz="1500" dirty="0">
                <a:solidFill>
                  <a:srgbClr val="202020"/>
                </a:solidFill>
                <a:latin typeface="Arial"/>
              </a:rPr>
              <a:t>.</a:t>
            </a:r>
            <a:endParaRPr lang="es-AR" sz="15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endParaRPr lang="es-AR" sz="1500" dirty="0">
              <a:solidFill>
                <a:srgbClr val="202020"/>
              </a:solidFill>
              <a:latin typeface="Arial"/>
            </a:endParaRP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Se escucha al espectro de la fuente de una manera distinta en posiciones diferentes.</a:t>
            </a:r>
          </a:p>
          <a:p>
            <a:pPr>
              <a:spcAft>
                <a:spcPts val="600"/>
              </a:spcAft>
            </a:pPr>
            <a:endParaRPr sz="1500" dirty="0">
              <a:solidFill>
                <a:srgbClr val="202020"/>
              </a:solidFill>
              <a:latin typeface="Arial"/>
            </a:endParaRPr>
          </a:p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Se 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contr</a:t>
            </a:r>
            <a:r>
              <a:rPr lang="es-AR" sz="1500" dirty="0">
                <a:solidFill>
                  <a:srgbClr val="202020"/>
                </a:solidFill>
              </a:rPr>
              <a:t>ataca</a:t>
            </a:r>
            <a:r>
              <a:rPr sz="1500" dirty="0">
                <a:solidFill>
                  <a:srgbClr val="202020"/>
                </a:solidFill>
                <a:latin typeface="Arial"/>
              </a:rPr>
              <a:t> con la forma/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proporciones</a:t>
            </a:r>
            <a:r>
              <a:rPr sz="1500" dirty="0">
                <a:solidFill>
                  <a:srgbClr val="202020"/>
                </a:solidFill>
                <a:latin typeface="Arial"/>
              </a:rPr>
              <a:t> y con la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ubicación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fuente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/s</a:t>
            </a:r>
            <a:r>
              <a:rPr sz="1500" dirty="0">
                <a:solidFill>
                  <a:srgbClr val="202020"/>
                </a:solidFill>
                <a:latin typeface="Arial"/>
              </a:rPr>
              <a:t> y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oyente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/s</a:t>
            </a:r>
            <a:r>
              <a:rPr sz="150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pic>
        <p:nvPicPr>
          <p:cNvPr id="7" name="Picture 6" descr="fig5_heatmap_spl.png">
            <a:extLst>
              <a:ext uri="{FF2B5EF4-FFF2-40B4-BE49-F238E27FC236}">
                <a16:creationId xmlns:a16="http://schemas.microsoft.com/office/drawing/2014/main" id="{8AC2B9B8-2175-3DA5-AF75-746A8E8D2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1801143"/>
            <a:ext cx="5354955" cy="41009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514A15-5873-D635-12E9-D7DD1AD69BC9}"/>
              </a:ext>
            </a:extLst>
          </p:cNvPr>
          <p:cNvSpPr txBox="1"/>
          <p:nvPr/>
        </p:nvSpPr>
        <p:spPr>
          <a:xfrm>
            <a:off x="4331970" y="5825400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Arial"/>
              </a:rPr>
              <a:t>Modo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tangencial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(1,1,0):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nodos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oscuros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antinodos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en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las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esquinas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0698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De la ecuación de onda a Helmholtz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4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2B6CB0"/>
                </a:solidFill>
                <a:latin typeface="Arial"/>
              </a:rPr>
              <a:t>Ecuación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de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onda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(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presión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sonora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)</a:t>
            </a:r>
          </a:p>
        </p:txBody>
      </p:sp>
      <p:pic>
        <p:nvPicPr>
          <p:cNvPr id="7" name="Picture 6" descr="eq_wav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8368" y="1847088"/>
            <a:ext cx="8491225" cy="14020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2004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Régimen armónico → ecuación de Helmholtz</a:t>
            </a:r>
          </a:p>
        </p:txBody>
      </p:sp>
      <p:pic>
        <p:nvPicPr>
          <p:cNvPr id="9" name="Picture 8" descr="eq_helmholt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93008"/>
            <a:ext cx="8236726" cy="14020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8463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Arial"/>
              </a:rPr>
              <a:t>Buscamos las soluciones no triviales con paredes rígidas: los modos propios del recinto.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Modos propios del recinto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5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Problema de autovalores — paredes rígidas (Neumann)</a:t>
            </a:r>
          </a:p>
        </p:txBody>
      </p:sp>
      <p:pic>
        <p:nvPicPr>
          <p:cNvPr id="7" name="Picture 6" descr="eq_ei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874518"/>
            <a:ext cx="7453333" cy="12687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3832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2B6CB0"/>
                </a:solidFill>
                <a:latin typeface="Arial"/>
              </a:rPr>
              <a:t>Solución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analítica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exacta </a:t>
            </a:r>
            <a:r>
              <a:rPr lang="es-AR" sz="1300" b="1" dirty="0">
                <a:solidFill>
                  <a:srgbClr val="2B6CB0"/>
                </a:solidFill>
              </a:rPr>
              <a:t>(en un paralelepípedo)</a:t>
            </a:r>
            <a:endParaRPr sz="1300" b="1" dirty="0">
              <a:solidFill>
                <a:srgbClr val="2B6CB0"/>
              </a:solidFill>
              <a:latin typeface="Arial"/>
            </a:endParaRPr>
          </a:p>
        </p:txBody>
      </p:sp>
      <p:pic>
        <p:nvPicPr>
          <p:cNvPr id="9" name="Picture 8" descr="eq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703320"/>
            <a:ext cx="6893769" cy="1173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235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Arial"/>
              </a:rPr>
              <a:t>La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caja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con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solución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cerrada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permite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validar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cualquier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método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numérico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dirty="0" err="1"/>
              <a:t>Régimen</a:t>
            </a:r>
            <a:r>
              <a:rPr sz="2200" b="1" dirty="0"/>
              <a:t> modal: Schroeder y </a:t>
            </a:r>
            <a:r>
              <a:rPr lang="es-AR" sz="2200" b="1" dirty="0"/>
              <a:t>Weyl</a:t>
            </a:r>
            <a:endParaRPr sz="2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6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Frecuencia de Schroeder (techo del régimen modal)</a:t>
            </a:r>
          </a:p>
        </p:txBody>
      </p:sp>
      <p:pic>
        <p:nvPicPr>
          <p:cNvPr id="7" name="Picture 6" descr="eq_schroe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874519"/>
            <a:ext cx="8326245" cy="14173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2004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Densidad modal acumulada (ley de Weyl)</a:t>
            </a:r>
          </a:p>
        </p:txBody>
      </p:sp>
      <p:pic>
        <p:nvPicPr>
          <p:cNvPr id="9" name="Picture 8" descr="eq_wey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7789066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235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Arial"/>
              </a:rPr>
              <a:t>Por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debajo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f_S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los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modos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son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discretos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y el FEM es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exacto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;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encima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, el campo es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estadístico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Respuesta forzada: FRF modal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7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Función de Green modal — FRF en el receptor (factor c²)</a:t>
            </a:r>
          </a:p>
        </p:txBody>
      </p:sp>
      <p:pic>
        <p:nvPicPr>
          <p:cNvPr id="7" name="Picture 6" descr="eq_green.png"/>
          <p:cNvPicPr>
            <a:picLocks noChangeAspect="1"/>
          </p:cNvPicPr>
          <p:nvPr/>
        </p:nvPicPr>
        <p:blipFill>
          <a:blip r:embed="rId2"/>
          <a:srcRect r="16283"/>
          <a:stretch>
            <a:fillRect/>
          </a:stretch>
        </p:blipFill>
        <p:spPr>
          <a:xfrm>
            <a:off x="756285" y="1884806"/>
            <a:ext cx="7747635" cy="15544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56616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Amortiguamiento de cada modo, derivado del RT60</a:t>
            </a:r>
          </a:p>
        </p:txBody>
      </p:sp>
      <p:pic>
        <p:nvPicPr>
          <p:cNvPr id="9" name="Picture 8" descr="eq_xi.png"/>
          <p:cNvPicPr>
            <a:picLocks noChangeAspect="1"/>
          </p:cNvPicPr>
          <p:nvPr/>
        </p:nvPicPr>
        <p:blipFill>
          <a:blip r:embed="rId3"/>
          <a:srcRect r="65820"/>
          <a:stretch>
            <a:fillRect/>
          </a:stretch>
        </p:blipFill>
        <p:spPr>
          <a:xfrm>
            <a:off x="756285" y="3985641"/>
            <a:ext cx="2891791" cy="14401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735574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Arial"/>
              </a:rPr>
              <a:t>El factor c² sale de la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derivación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canónica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;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ξ_n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controla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el ancho de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los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picos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Absorción y tiempo de reverberación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8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Sabine (absorción baja)</a:t>
            </a:r>
          </a:p>
        </p:txBody>
      </p:sp>
      <p:pic>
        <p:nvPicPr>
          <p:cNvPr id="7" name="Picture 6" descr="eq_sabine.png"/>
          <p:cNvPicPr>
            <a:picLocks noChangeAspect="1"/>
          </p:cNvPicPr>
          <p:nvPr/>
        </p:nvPicPr>
        <p:blipFill>
          <a:blip r:embed="rId2"/>
          <a:srcRect r="68556"/>
          <a:stretch>
            <a:fillRect/>
          </a:stretch>
        </p:blipFill>
        <p:spPr>
          <a:xfrm>
            <a:off x="822959" y="1874519"/>
            <a:ext cx="2472691" cy="1338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549323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2B6CB0"/>
                </a:solidFill>
                <a:latin typeface="Arial"/>
              </a:rPr>
              <a:t>Norris–Eyring (también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válido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para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absorción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alta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)</a:t>
            </a:r>
          </a:p>
        </p:txBody>
      </p:sp>
      <p:pic>
        <p:nvPicPr>
          <p:cNvPr id="9" name="Picture 8" descr="eq_eyring.png"/>
          <p:cNvPicPr>
            <a:picLocks noChangeAspect="1"/>
          </p:cNvPicPr>
          <p:nvPr/>
        </p:nvPicPr>
        <p:blipFill>
          <a:blip r:embed="rId3"/>
          <a:srcRect l="-993" t="-1651" r="25158" b="1651"/>
          <a:stretch>
            <a:fillRect/>
          </a:stretch>
        </p:blipFill>
        <p:spPr>
          <a:xfrm>
            <a:off x="658368" y="3735859"/>
            <a:ext cx="7273290" cy="1661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997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Arial"/>
              </a:rPr>
              <a:t>El RT60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banda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fija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el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amortiguamiento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modal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ξ_n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la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simulación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057AD-C628-8211-873B-E4ED623C5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19109-BB4D-0A6C-928E-4B23A996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dirty="0" err="1"/>
              <a:t>Geometría</a:t>
            </a:r>
            <a:r>
              <a:rPr sz="2200" b="1" dirty="0"/>
              <a:t> con </a:t>
            </a:r>
            <a:r>
              <a:rPr sz="2200" b="1" dirty="0" err="1"/>
              <a:t>quiebres</a:t>
            </a:r>
            <a:endParaRPr sz="2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5084D2-6CAA-604D-87F4-BAD423CFFCCC}"/>
              </a:ext>
            </a:extLst>
          </p:cNvPr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1C288-EB14-312D-020D-CD50A95C783C}"/>
              </a:ext>
            </a:extLst>
          </p:cNvPr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20 / 26</a:t>
            </a:r>
          </a:p>
        </p:txBody>
      </p:sp>
      <p:pic>
        <p:nvPicPr>
          <p:cNvPr id="6" name="Picture 5" descr="fig2_editor.png">
            <a:extLst>
              <a:ext uri="{FF2B5EF4-FFF2-40B4-BE49-F238E27FC236}">
                <a16:creationId xmlns:a16="http://schemas.microsoft.com/office/drawing/2014/main" id="{97AAD345-18B2-0525-3D07-22DF76795F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451"/>
          <a:stretch>
            <a:fillRect/>
          </a:stretch>
        </p:blipFill>
        <p:spPr>
          <a:xfrm>
            <a:off x="1347787" y="1278384"/>
            <a:ext cx="6448425" cy="4301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973CC9-ADB1-1944-7772-A2FD28DFE02F}"/>
              </a:ext>
            </a:extLst>
          </p:cNvPr>
          <p:cNvSpPr txBox="1"/>
          <p:nvPr/>
        </p:nvSpPr>
        <p:spPr>
          <a:xfrm>
            <a:off x="628650" y="5816482"/>
            <a:ext cx="836180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202020"/>
                </a:solidFill>
                <a:latin typeface="Arial"/>
              </a:rPr>
              <a:t>Del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paralelepípedo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a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una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envolvente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quebrada: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edición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de planta (a) y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perfiles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de pared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corte lateral (b).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788076A7-B41A-EEBB-3638-1849C04E42C8}"/>
              </a:ext>
            </a:extLst>
          </p:cNvPr>
          <p:cNvSpPr txBox="1"/>
          <p:nvPr/>
        </p:nvSpPr>
        <p:spPr>
          <a:xfrm>
            <a:off x="3295650" y="5590595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Panel de dibujar forma exhibiendo la planta.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9241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dirty="0" err="1"/>
              <a:t>Geometría</a:t>
            </a:r>
            <a:r>
              <a:rPr sz="2200" b="1" dirty="0"/>
              <a:t> con </a:t>
            </a:r>
            <a:r>
              <a:rPr sz="2200" b="1" dirty="0" err="1"/>
              <a:t>quiebres</a:t>
            </a:r>
            <a:endParaRPr sz="2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20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5820265"/>
            <a:ext cx="812368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202020"/>
                </a:solidFill>
                <a:latin typeface="Arial"/>
              </a:rPr>
              <a:t>Del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paralelepípedo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a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una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envolvente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quebrada: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edición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de planta (a) y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perfiles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de pared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corte lateral (b).</a:t>
            </a:r>
          </a:p>
        </p:txBody>
      </p:sp>
      <p:pic>
        <p:nvPicPr>
          <p:cNvPr id="8" name="Picture 5" descr="fig2_editor.png">
            <a:extLst>
              <a:ext uri="{FF2B5EF4-FFF2-40B4-BE49-F238E27FC236}">
                <a16:creationId xmlns:a16="http://schemas.microsoft.com/office/drawing/2014/main" id="{2F794481-E3D6-49FE-1117-C972F235F9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00"/>
          <a:stretch>
            <a:fillRect/>
          </a:stretch>
        </p:blipFill>
        <p:spPr>
          <a:xfrm>
            <a:off x="1338263" y="1243955"/>
            <a:ext cx="6467474" cy="4333883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3931D122-DAA2-83AA-8F6A-E17628E9AE2F}"/>
              </a:ext>
            </a:extLst>
          </p:cNvPr>
          <p:cNvSpPr txBox="1"/>
          <p:nvPr/>
        </p:nvSpPr>
        <p:spPr>
          <a:xfrm>
            <a:off x="3105150" y="5590595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Panel de dibujar forma exhibiendo un corte lateral.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La interfaz gráfica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19 / 26</a:t>
            </a:r>
          </a:p>
        </p:txBody>
      </p:sp>
      <p:pic>
        <p:nvPicPr>
          <p:cNvPr id="6" name="Picture 5" descr="fig3_g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956" y="1231753"/>
            <a:ext cx="5755795" cy="37117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956" y="5130506"/>
            <a:ext cx="6415087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Tres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pestañas</a:t>
            </a:r>
            <a:r>
              <a:rPr sz="1300" dirty="0">
                <a:solidFill>
                  <a:srgbClr val="202020"/>
                </a:solidFill>
                <a:latin typeface="Arial"/>
              </a:rPr>
              <a:t>: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Geometría</a:t>
            </a:r>
            <a:r>
              <a:rPr sz="1300" dirty="0">
                <a:solidFill>
                  <a:srgbClr val="202020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Acústica</a:t>
            </a:r>
            <a:r>
              <a:rPr sz="1300" dirty="0">
                <a:solidFill>
                  <a:srgbClr val="202020"/>
                </a:solidFill>
                <a:latin typeface="Arial"/>
              </a:rPr>
              <a:t> y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Predicción</a:t>
            </a:r>
            <a:r>
              <a:rPr sz="13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Visor 3D con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manipulación</a:t>
            </a:r>
            <a:r>
              <a:rPr sz="130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directa</a:t>
            </a:r>
            <a:r>
              <a:rPr sz="13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Fuentes (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bafles</a:t>
            </a:r>
            <a:r>
              <a:rPr sz="1300" dirty="0">
                <a:solidFill>
                  <a:srgbClr val="202020"/>
                </a:solidFill>
                <a:latin typeface="Arial"/>
              </a:rPr>
              <a:t>) y receptor.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BBAFBD50-7618-7EA4-0B53-B5D408E4A439}"/>
              </a:ext>
            </a:extLst>
          </p:cNvPr>
          <p:cNvSpPr txBox="1"/>
          <p:nvPr/>
        </p:nvSpPr>
        <p:spPr>
          <a:xfrm>
            <a:off x="3275961" y="4943475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Render 3D del recinto irregular dibujado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¿Por qué un motor FEM y de mallado propio?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9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  <a:latin typeface="Arial"/>
              </a:rPr>
              <a:t>•  Problema chico (banda modal): no justifica FEniCS/PETSc ni dependencias C++ en Windows/Anaconda.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  <a:latin typeface="Arial"/>
              </a:rPr>
              <a:t>•  Transparencia: cada paso del ensamblaje es visible, comentado y validado con oráculos.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  <a:latin typeface="Arial"/>
              </a:rPr>
              <a:t>•  Paredes rígidas → la condición de Neumann es natural en la forma débil: la frontera escalonada (voxel) no afecta el ensamblaje.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  <a:latin typeface="Arial"/>
              </a:rPr>
              <a:t>•  Elementos P1 + masa consistente: error 0,4–3 % vs analítico, por debajo del ruido del modelado físico.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2200" dirty="0"/>
              <a:t>¿Qué hace el Super </a:t>
            </a:r>
            <a:r>
              <a:rPr lang="es-AR" sz="2200" dirty="0" err="1"/>
              <a:t>Calculator</a:t>
            </a:r>
            <a:r>
              <a:rPr lang="es-AR" sz="2200" dirty="0"/>
              <a:t>?</a:t>
            </a:r>
            <a:endParaRPr sz="2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3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1228397"/>
            <a:ext cx="8391525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</a:t>
            </a:r>
            <a:r>
              <a:rPr lang="es-AR" sz="1500" dirty="0">
                <a:solidFill>
                  <a:srgbClr val="202020"/>
                </a:solidFill>
              </a:rPr>
              <a:t>Motor de mallado y FEM propio (más </a:t>
            </a:r>
            <a:r>
              <a:rPr lang="es-AR" sz="1500" dirty="0" err="1">
                <a:solidFill>
                  <a:srgbClr val="202020"/>
                </a:solidFill>
              </a:rPr>
              <a:t>gmsh</a:t>
            </a:r>
            <a:r>
              <a:rPr lang="es-AR" sz="1500" dirty="0">
                <a:solidFill>
                  <a:srgbClr val="202020"/>
                </a:solidFill>
              </a:rPr>
              <a:t> para validación)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Diseño de un recinto convexo o no, con techo abovedado, inclinado o a dos aguas, de n paredes iguales o no entre sí.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Carga de archivos .OBJ desde </a:t>
            </a:r>
            <a:r>
              <a:rPr lang="es-AR" sz="1500" dirty="0" err="1">
                <a:solidFill>
                  <a:srgbClr val="202020"/>
                </a:solidFill>
              </a:rPr>
              <a:t>SketchUp</a:t>
            </a:r>
            <a:r>
              <a:rPr lang="es-AR" sz="1500" dirty="0">
                <a:solidFill>
                  <a:srgbClr val="202020"/>
                </a:solidFill>
              </a:rPr>
              <a:t>.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Parametrización de dimensiones del recinto en tiempo real.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Render 3D del recinto y gráfico 2D de un plano a elección de la sala.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Evaluación de la distribución espacial y frecuencial de los modos hasta la frecuencia de Schroeder.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  <a:latin typeface="Arial"/>
              </a:rPr>
              <a:t>Simulación de fuentes omnidireccionales.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Simulación de SBIR.</a:t>
            </a:r>
            <a:endParaRPr lang="es-AR" sz="1500" dirty="0">
              <a:solidFill>
                <a:srgbClr val="202020"/>
              </a:solidFill>
              <a:latin typeface="Arial"/>
            </a:endParaRP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Simulación de materiales, amortiguamiento de modos y TR60 estimado (con gráfico de Sabine y Eyring).</a:t>
            </a:r>
            <a:endParaRPr sz="1500" dirty="0">
              <a:solidFill>
                <a:srgbClr val="202020"/>
              </a:solidFill>
              <a:latin typeface="Arial"/>
            </a:endParaRPr>
          </a:p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Evaluación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del recinto </a:t>
            </a:r>
            <a:r>
              <a:rPr sz="1500" dirty="0">
                <a:solidFill>
                  <a:srgbClr val="202020"/>
                </a:solidFill>
                <a:latin typeface="Arial"/>
              </a:rPr>
              <a:t>con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figuras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mérito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acústicas basadas en una colección histórica de criterios</a:t>
            </a:r>
            <a:r>
              <a:rPr sz="15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Tres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ejes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predicci</a:t>
            </a:r>
            <a:r>
              <a:rPr lang="es-AR" sz="1500" dirty="0">
                <a:solidFill>
                  <a:srgbClr val="202020"/>
                </a:solidFill>
              </a:rPr>
              <a:t>ón</a:t>
            </a:r>
            <a:r>
              <a:rPr sz="1500" dirty="0">
                <a:solidFill>
                  <a:srgbClr val="202020"/>
                </a:solidFill>
                <a:latin typeface="Arial"/>
              </a:rPr>
              <a:t>: forma, 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ubicación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fuentes</a:t>
            </a:r>
            <a:r>
              <a:rPr sz="1500" dirty="0">
                <a:solidFill>
                  <a:srgbClr val="202020"/>
                </a:solidFill>
                <a:latin typeface="Arial"/>
              </a:rPr>
              <a:t> y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combinado</a:t>
            </a:r>
            <a:r>
              <a:rPr sz="1500" dirty="0">
                <a:solidFill>
                  <a:srgbClr val="202020"/>
                </a:solidFill>
                <a:latin typeface="Arial"/>
              </a:rPr>
              <a:t>.</a:t>
            </a:r>
            <a:endParaRPr lang="es-AR" sz="1500" dirty="0">
              <a:solidFill>
                <a:srgbClr val="202020"/>
              </a:solidFill>
            </a:endParaRP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  <a:latin typeface="Arial"/>
              </a:rPr>
              <a:t>Simulación de punto de esc</a:t>
            </a:r>
            <a:r>
              <a:rPr lang="es-AR" sz="1500" dirty="0">
                <a:solidFill>
                  <a:srgbClr val="202020"/>
                </a:solidFill>
              </a:rPr>
              <a:t>ucha con </a:t>
            </a:r>
            <a:r>
              <a:rPr lang="es-AR" sz="1500" dirty="0" err="1">
                <a:solidFill>
                  <a:srgbClr val="202020"/>
                </a:solidFill>
              </a:rPr>
              <a:t>auralización</a:t>
            </a:r>
            <a:r>
              <a:rPr lang="es-AR" sz="1500" dirty="0">
                <a:solidFill>
                  <a:srgbClr val="202020"/>
                </a:solidFill>
              </a:rPr>
              <a:t> y gráfico de respuesta en frecuencia.</a:t>
            </a:r>
            <a:endParaRPr lang="es-AR" sz="1500" dirty="0">
              <a:solidFill>
                <a:srgbClr val="20202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BE66A-257F-9631-A2B8-3C3D93023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3C986-0648-46C3-5D7B-BC2071F0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2200" dirty="0"/>
              <a:t>Arquitectura</a:t>
            </a:r>
            <a:endParaRPr sz="2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0B025B-4088-70FB-BAA5-99B8A74A32B3}"/>
              </a:ext>
            </a:extLst>
          </p:cNvPr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BE8C1-23E1-D984-EA5E-EDBF3913C13F}"/>
              </a:ext>
            </a:extLst>
          </p:cNvPr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3 / 26</a:t>
            </a:r>
          </a:p>
        </p:txBody>
      </p:sp>
      <p:pic>
        <p:nvPicPr>
          <p:cNvPr id="7" name="Picture 6" descr="fig1_arquitectura.png">
            <a:extLst>
              <a:ext uri="{FF2B5EF4-FFF2-40B4-BE49-F238E27FC236}">
                <a16:creationId xmlns:a16="http://schemas.microsoft.com/office/drawing/2014/main" id="{787C46AA-5AE7-F260-17F4-A99264FEFF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796"/>
          <a:stretch>
            <a:fillRect/>
          </a:stretch>
        </p:blipFill>
        <p:spPr>
          <a:xfrm>
            <a:off x="399575" y="1285875"/>
            <a:ext cx="8253409" cy="4448175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87E96491-B633-0A16-3702-C10A2C3A2392}"/>
              </a:ext>
            </a:extLst>
          </p:cNvPr>
          <p:cNvSpPr txBox="1"/>
          <p:nvPr/>
        </p:nvSpPr>
        <p:spPr>
          <a:xfrm>
            <a:off x="3400425" y="5734050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Arquitectura simplificada del software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7104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dirty="0"/>
              <a:t>Motor de </a:t>
            </a:r>
            <a:r>
              <a:rPr sz="2200" b="1" dirty="0" err="1"/>
              <a:t>mallado</a:t>
            </a:r>
            <a:endParaRPr sz="2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10 / 26</a:t>
            </a:r>
          </a:p>
        </p:txBody>
      </p:sp>
      <p:pic>
        <p:nvPicPr>
          <p:cNvPr id="6" name="Picture 5" descr="flow_mesh.png"/>
          <p:cNvPicPr>
            <a:picLocks noChangeAspect="1"/>
          </p:cNvPicPr>
          <p:nvPr/>
        </p:nvPicPr>
        <p:blipFill>
          <a:blip r:embed="rId2"/>
          <a:srcRect b="21526"/>
          <a:stretch>
            <a:fillRect/>
          </a:stretch>
        </p:blipFill>
        <p:spPr>
          <a:xfrm>
            <a:off x="571499" y="1183071"/>
            <a:ext cx="7772400" cy="14295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5934" y="2941219"/>
            <a:ext cx="715213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202020"/>
                </a:solidFill>
                <a:latin typeface="Arial"/>
              </a:rPr>
              <a:t>Voxelización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+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partición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Freudenthal, sin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TetGen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/CGAL. La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frontera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escalonada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no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compromete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el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ensamblaje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: con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paredes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rígidas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la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condición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Neumann es natural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la forma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débil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pic>
        <p:nvPicPr>
          <p:cNvPr id="3" name="Imagen 2" descr="The Freudenthal triangulation of the 3-cube consists of six tetrahedra... |  Download Scientific Diagram">
            <a:extLst>
              <a:ext uri="{FF2B5EF4-FFF2-40B4-BE49-F238E27FC236}">
                <a16:creationId xmlns:a16="http://schemas.microsoft.com/office/drawing/2014/main" id="{65E6A5FB-0FB9-3BCD-0190-A3A78BD5C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6" y="3916781"/>
            <a:ext cx="2066925" cy="1781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796E90-7A6D-A9FE-E1DE-C368DA28356E}"/>
              </a:ext>
            </a:extLst>
          </p:cNvPr>
          <p:cNvSpPr txBox="1"/>
          <p:nvPr/>
        </p:nvSpPr>
        <p:spPr>
          <a:xfrm>
            <a:off x="3074670" y="5780296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Descomposición de Freudenthal de un hexaedro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B1F05E80-012C-B313-E385-2B641D1CBF26}"/>
              </a:ext>
            </a:extLst>
          </p:cNvPr>
          <p:cNvSpPr txBox="1"/>
          <p:nvPr/>
        </p:nvSpPr>
        <p:spPr>
          <a:xfrm>
            <a:off x="3339264" y="2643424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Flujo de señal del motor de mallado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dirty="0"/>
              <a:t>Motor FEM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11 / 26</a:t>
            </a:r>
          </a:p>
        </p:txBody>
      </p:sp>
      <p:pic>
        <p:nvPicPr>
          <p:cNvPr id="6" name="Picture 5" descr="flow_fem.png"/>
          <p:cNvPicPr>
            <a:picLocks noChangeAspect="1"/>
          </p:cNvPicPr>
          <p:nvPr/>
        </p:nvPicPr>
        <p:blipFill>
          <a:blip r:embed="rId2"/>
          <a:srcRect b="20517"/>
          <a:stretch>
            <a:fillRect/>
          </a:stretch>
        </p:blipFill>
        <p:spPr>
          <a:xfrm>
            <a:off x="571500" y="1190460"/>
            <a:ext cx="7772400" cy="14479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6993" y="2865882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2B6CB0"/>
                </a:solidFill>
                <a:latin typeface="Arial"/>
              </a:rPr>
              <a:t>Problema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de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autovalores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generalizado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(Lanczos + shift-invert)</a:t>
            </a:r>
          </a:p>
        </p:txBody>
      </p:sp>
      <p:pic>
        <p:nvPicPr>
          <p:cNvPr id="8" name="Picture 7" descr="eq_eigprob.png"/>
          <p:cNvPicPr>
            <a:picLocks noChangeAspect="1"/>
          </p:cNvPicPr>
          <p:nvPr/>
        </p:nvPicPr>
        <p:blipFill>
          <a:blip r:embed="rId3"/>
          <a:srcRect t="19537" r="28183" b="22734"/>
          <a:stretch>
            <a:fillRect/>
          </a:stretch>
        </p:blipFill>
        <p:spPr>
          <a:xfrm>
            <a:off x="1895950" y="3302700"/>
            <a:ext cx="5352097" cy="732336"/>
          </a:xfrm>
          <a:prstGeom prst="rect">
            <a:avLst/>
          </a:prstGeom>
        </p:spPr>
      </p:pic>
      <p:pic>
        <p:nvPicPr>
          <p:cNvPr id="10" name="Picture 9" descr="code_assemb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0262" y="4120920"/>
            <a:ext cx="4943475" cy="1441737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3DD9F108-93C6-F8DF-1F8F-AED92E54793D}"/>
              </a:ext>
            </a:extLst>
          </p:cNvPr>
          <p:cNvSpPr txBox="1"/>
          <p:nvPr/>
        </p:nvSpPr>
        <p:spPr>
          <a:xfrm>
            <a:off x="3491664" y="2638425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Flujo de señal para el motor de FEM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C9669A9E-B273-F9AC-5592-70AD3025876E}"/>
              </a:ext>
            </a:extLst>
          </p:cNvPr>
          <p:cNvSpPr txBox="1"/>
          <p:nvPr/>
        </p:nvSpPr>
        <p:spPr>
          <a:xfrm>
            <a:off x="3356135" y="5562657"/>
            <a:ext cx="51477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Ensamble de las matrices rigidez y masa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Validación del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23 / 26</a:t>
            </a:r>
          </a:p>
        </p:txBody>
      </p:sp>
      <p:pic>
        <p:nvPicPr>
          <p:cNvPr id="6" name="Picture 5" descr="tabla1_valid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232" y="1296352"/>
            <a:ext cx="4383535" cy="4265295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41BB7730-F662-49D8-32D9-D7C4FD48E885}"/>
              </a:ext>
            </a:extLst>
          </p:cNvPr>
          <p:cNvSpPr txBox="1"/>
          <p:nvPr/>
        </p:nvSpPr>
        <p:spPr>
          <a:xfrm>
            <a:off x="2380232" y="5712142"/>
            <a:ext cx="4810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Tabla comparativa de valores y errores entre modos analíticos y predichos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¿De dónde salen los criterios de predicción?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 err="1">
                <a:solidFill>
                  <a:srgbClr val="555555"/>
                </a:solidFill>
                <a:latin typeface="Arial"/>
              </a:rPr>
              <a:t>Diseño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modal de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recintos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pequeños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13 / 26</a:t>
            </a:r>
          </a:p>
        </p:txBody>
      </p:sp>
      <p:pic>
        <p:nvPicPr>
          <p:cNvPr id="6" name="Picture 5" descr="table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04900"/>
            <a:ext cx="7863840" cy="4878038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B557C548-DEFC-FDF6-3EF3-89261B2137A7}"/>
              </a:ext>
            </a:extLst>
          </p:cNvPr>
          <p:cNvSpPr txBox="1"/>
          <p:nvPr/>
        </p:nvSpPr>
        <p:spPr>
          <a:xfrm>
            <a:off x="3981450" y="5922787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Panel de criterios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Proporciones óptimas del recinto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14 / 26</a:t>
            </a:r>
          </a:p>
        </p:txBody>
      </p:sp>
      <p:pic>
        <p:nvPicPr>
          <p:cNvPr id="6" name="Picture 5" descr="fig_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4480560" cy="3449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2080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Arial"/>
              </a:rPr>
              <a:t>•  Cinco ternas de la literatura: Louden, Bolt, Sepmeyer, Cox y BBC/Rindel.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Arial"/>
              </a:rPr>
              <a:t>•  Cada una se escala al volumen objetivo del uso.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Arial"/>
              </a:rPr>
              <a:t>•  Se confinan a un rango de altura constructivo.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Arial"/>
              </a:rPr>
              <a:t>•  Se puntúan por figura de mérito y se muestran las 3 mejores.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9676"/>
            <a:ext cx="5276850" cy="485647"/>
          </a:xfrm>
        </p:spPr>
        <p:txBody>
          <a:bodyPr/>
          <a:lstStyle/>
          <a:p>
            <a:r>
              <a:rPr sz="2200" b="1" dirty="0" err="1"/>
              <a:t>Distribución</a:t>
            </a:r>
            <a:r>
              <a:rPr sz="2200" b="1" dirty="0"/>
              <a:t> modal pareja: Bonello y </a:t>
            </a:r>
            <a:r>
              <a:rPr lang="es-AR" sz="2200" b="1" dirty="0"/>
              <a:t>Rindel</a:t>
            </a:r>
            <a:endParaRPr sz="2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15 / 26</a:t>
            </a:r>
          </a:p>
        </p:txBody>
      </p:sp>
      <p:pic>
        <p:nvPicPr>
          <p:cNvPr id="6" name="Picture 5" descr="fig_bon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37" y="1417320"/>
            <a:ext cx="8114926" cy="35166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209" y="52578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dirty="0">
                <a:solidFill>
                  <a:srgbClr val="202020"/>
                </a:solidFill>
                <a:latin typeface="Arial"/>
              </a:rPr>
              <a:t>•  Bonello (1981): la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densidad</a:t>
            </a:r>
            <a:r>
              <a:rPr sz="1400" dirty="0">
                <a:solidFill>
                  <a:srgbClr val="202020"/>
                </a:solidFill>
                <a:latin typeface="Arial"/>
              </a:rPr>
              <a:t> modal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400" dirty="0">
                <a:solidFill>
                  <a:srgbClr val="202020"/>
                </a:solidFill>
                <a:latin typeface="Arial"/>
              </a:rPr>
              <a:t> 1/3 de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octava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debe</a:t>
            </a:r>
            <a:r>
              <a:rPr sz="1400" dirty="0">
                <a:solidFill>
                  <a:srgbClr val="202020"/>
                </a:solidFill>
                <a:latin typeface="Arial"/>
              </a:rPr>
              <a:t> ser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monótona</a:t>
            </a:r>
            <a:r>
              <a:rPr sz="1400" dirty="0">
                <a:solidFill>
                  <a:srgbClr val="202020"/>
                </a:solidFill>
                <a:latin typeface="Arial"/>
              </a:rPr>
              <a:t> no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decreciente</a:t>
            </a:r>
            <a:r>
              <a:rPr sz="14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02020"/>
                </a:solidFill>
                <a:latin typeface="Arial"/>
              </a:rPr>
              <a:t>•  FSI (Rindel):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mide</a:t>
            </a:r>
            <a:r>
              <a:rPr sz="1400" dirty="0">
                <a:solidFill>
                  <a:srgbClr val="202020"/>
                </a:solidFill>
                <a:latin typeface="Arial"/>
              </a:rPr>
              <a:t> la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regularidad</a:t>
            </a:r>
            <a:r>
              <a:rPr sz="1400" dirty="0">
                <a:solidFill>
                  <a:srgbClr val="202020"/>
                </a:solidFill>
                <a:latin typeface="Arial"/>
              </a:rPr>
              <a:t> del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espaciado</a:t>
            </a:r>
            <a:r>
              <a:rPr sz="1400" dirty="0">
                <a:solidFill>
                  <a:srgbClr val="202020"/>
                </a:solidFill>
                <a:latin typeface="Arial"/>
              </a:rPr>
              <a:t> entre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modos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consecutivos</a:t>
            </a:r>
            <a:r>
              <a:rPr sz="140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Umbral perceptual: Fazenda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16 / 26</a:t>
            </a:r>
          </a:p>
        </p:txBody>
      </p:sp>
      <p:pic>
        <p:nvPicPr>
          <p:cNvPr id="6" name="Picture 5" descr="fig_faz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038" y="1400458"/>
            <a:ext cx="5709923" cy="35719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1070" y="4972360"/>
            <a:ext cx="5857875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Dos curvas de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audibilidad</a:t>
            </a:r>
            <a:r>
              <a:rPr sz="1300" dirty="0">
                <a:solidFill>
                  <a:srgbClr val="202020"/>
                </a:solidFill>
                <a:latin typeface="Arial"/>
              </a:rPr>
              <a:t> modal.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"Artificial":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peor</a:t>
            </a:r>
            <a:r>
              <a:rPr sz="130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caso</a:t>
            </a:r>
            <a:r>
              <a:rPr sz="1300" dirty="0">
                <a:solidFill>
                  <a:srgbClr val="202020"/>
                </a:solidFill>
                <a:latin typeface="Arial"/>
              </a:rPr>
              <a:t>, sin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enmascaramiento</a:t>
            </a:r>
            <a:r>
              <a:rPr sz="13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"Música":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escucha</a:t>
            </a:r>
            <a:r>
              <a:rPr sz="1300" dirty="0">
                <a:solidFill>
                  <a:srgbClr val="202020"/>
                </a:solidFill>
                <a:latin typeface="Arial"/>
              </a:rPr>
              <a:t> real.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La curva la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elige</a:t>
            </a:r>
            <a:r>
              <a:rPr sz="1300" dirty="0">
                <a:solidFill>
                  <a:srgbClr val="202020"/>
                </a:solidFill>
                <a:latin typeface="Arial"/>
              </a:rPr>
              <a:t> el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programa</a:t>
            </a:r>
            <a:r>
              <a:rPr sz="130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según</a:t>
            </a:r>
            <a:r>
              <a:rPr sz="1300" dirty="0">
                <a:solidFill>
                  <a:srgbClr val="202020"/>
                </a:solidFill>
                <a:latin typeface="Arial"/>
              </a:rPr>
              <a:t> el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uso</a:t>
            </a:r>
            <a:r>
              <a:rPr sz="1300" dirty="0">
                <a:solidFill>
                  <a:srgbClr val="202020"/>
                </a:solidFill>
                <a:latin typeface="Arial"/>
              </a:rPr>
              <a:t> de la sala.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Gestión activa vs. proporción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17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  <a:latin typeface="Arial"/>
              </a:rPr>
              <a:t>•  Toole y Geddes: en la práctica, la ubicación de fuente/oyente, la absorción y la ecualización dominan sobre la proporción pura.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  <a:latin typeface="Arial"/>
              </a:rPr>
              <a:t>•  Welti &amp; Devantier: múltiples subwoofers mejoran la consistencia asiento a asiento.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  <a:latin typeface="Arial"/>
              </a:rPr>
              <a:t>•  Interferencia fuente-frontera (SBIR): peine de realces y cancelaciones por reflexiones.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6392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2B6CB0"/>
                </a:solidFill>
                <a:latin typeface="Arial"/>
              </a:rPr>
              <a:t>SBIR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por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fuentes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imagen de primer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orden</a:t>
            </a:r>
            <a:endParaRPr sz="1300" b="1" dirty="0">
              <a:solidFill>
                <a:srgbClr val="2B6CB0"/>
              </a:solidFill>
              <a:latin typeface="Arial"/>
            </a:endParaRPr>
          </a:p>
        </p:txBody>
      </p:sp>
      <p:pic>
        <p:nvPicPr>
          <p:cNvPr id="8" name="Picture 7" descr="eq_sb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60" y="3838661"/>
            <a:ext cx="7852640" cy="136008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Figuras de mérito modales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21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2B6CB0"/>
                </a:solidFill>
                <a:latin typeface="Arial"/>
              </a:rPr>
              <a:t>Planitud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media y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consistencia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espacial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(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banda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válida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)</a:t>
            </a:r>
          </a:p>
        </p:txBody>
      </p:sp>
      <p:pic>
        <p:nvPicPr>
          <p:cNvPr id="7" name="Picture 6" descr="eq_f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874518"/>
            <a:ext cx="7789073" cy="13258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200400"/>
            <a:ext cx="786384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spcAft>
                <a:spcPts val="7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FoM_flat</a:t>
            </a:r>
            <a:r>
              <a:rPr sz="1500" dirty="0">
                <a:solidFill>
                  <a:srgbClr val="202020"/>
                </a:solidFill>
                <a:latin typeface="Arial"/>
              </a:rPr>
              <a:t>: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desviación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la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respuesta</a:t>
            </a:r>
            <a:r>
              <a:rPr sz="1500" dirty="0">
                <a:solidFill>
                  <a:srgbClr val="202020"/>
                </a:solidFill>
                <a:latin typeface="Arial"/>
              </a:rPr>
              <a:t> media (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planitud</a:t>
            </a:r>
            <a:r>
              <a:rPr sz="1500" dirty="0">
                <a:solidFill>
                  <a:srgbClr val="202020"/>
                </a:solidFill>
                <a:latin typeface="Arial"/>
              </a:rPr>
              <a:t>).</a:t>
            </a:r>
          </a:p>
          <a:p>
            <a:pPr marL="180975" indent="-180975">
              <a:spcAft>
                <a:spcPts val="7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FoM_esp</a:t>
            </a:r>
            <a:r>
              <a:rPr sz="1500" dirty="0">
                <a:solidFill>
                  <a:srgbClr val="202020"/>
                </a:solidFill>
                <a:latin typeface="Arial"/>
              </a:rPr>
              <a:t>: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variación</a:t>
            </a:r>
            <a:r>
              <a:rPr sz="1500" dirty="0">
                <a:solidFill>
                  <a:srgbClr val="202020"/>
                </a:solidFill>
                <a:latin typeface="Arial"/>
              </a:rPr>
              <a:t> asiento a asiento (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estilo</a:t>
            </a:r>
            <a:r>
              <a:rPr sz="1500" dirty="0">
                <a:solidFill>
                  <a:srgbClr val="202020"/>
                </a:solidFill>
                <a:latin typeface="Arial"/>
              </a:rPr>
              <a:t> Welti).</a:t>
            </a:r>
          </a:p>
          <a:p>
            <a:pPr marL="180975" indent="-180975">
              <a:spcAft>
                <a:spcPts val="7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Se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calculan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sobre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una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grilla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escucha</a:t>
            </a:r>
            <a:r>
              <a:rPr sz="1500" dirty="0">
                <a:solidFill>
                  <a:srgbClr val="202020"/>
                </a:solidFill>
                <a:latin typeface="Arial"/>
              </a:rPr>
              <a:t>, con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suavizado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fracciones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octava</a:t>
            </a:r>
            <a:r>
              <a:rPr sz="1500" dirty="0">
                <a:solidFill>
                  <a:srgbClr val="202020"/>
                </a:solidFill>
                <a:latin typeface="Arial"/>
              </a:rPr>
              <a:t> y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sólo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en</a:t>
            </a:r>
            <a:r>
              <a:rPr sz="1500" dirty="0">
                <a:solidFill>
                  <a:srgbClr val="202020"/>
                </a:solidFill>
                <a:latin typeface="Arial"/>
              </a:rPr>
              <a:t> la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banda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válida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la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malla</a:t>
            </a:r>
            <a:r>
              <a:rPr sz="15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 marL="180975" indent="-180975">
              <a:spcAft>
                <a:spcPts val="7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Cruce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solapamiento</a:t>
            </a:r>
            <a:r>
              <a:rPr sz="1500" dirty="0">
                <a:solidFill>
                  <a:srgbClr val="202020"/>
                </a:solidFill>
                <a:latin typeface="Arial"/>
              </a:rPr>
              <a:t> modal: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frontera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Schroeder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desde</a:t>
            </a:r>
            <a:r>
              <a:rPr sz="1500" dirty="0">
                <a:solidFill>
                  <a:srgbClr val="202020"/>
                </a:solidFill>
                <a:latin typeface="Arial"/>
              </a:rPr>
              <a:t> la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densidad</a:t>
            </a:r>
            <a:r>
              <a:rPr sz="1500" dirty="0">
                <a:solidFill>
                  <a:srgbClr val="202020"/>
                </a:solidFill>
                <a:latin typeface="Arial"/>
              </a:rPr>
              <a:t> modal real.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A445E-DE41-C395-ECD5-2D77C9765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Recinto paralelepípedo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561C55-9B42-1125-20D5-F54D3B9CB9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24</a:t>
            </a:fld>
            <a:r>
              <a:rPr lang="es-AR"/>
              <a:t>/TotNum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8CA447B-EFB0-7783-B8BD-F3B70C7CA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80" y="1916415"/>
            <a:ext cx="3777495" cy="37046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04C0B05-8A79-AD35-2D23-008AD7C68D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95" t="13771" b="11554"/>
          <a:stretch>
            <a:fillRect/>
          </a:stretch>
        </p:blipFill>
        <p:spPr>
          <a:xfrm>
            <a:off x="4335401" y="1916415"/>
            <a:ext cx="4370450" cy="3704665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255806D5-0139-5742-1B4F-FD3AAE40503B}"/>
              </a:ext>
            </a:extLst>
          </p:cNvPr>
          <p:cNvSpPr txBox="1"/>
          <p:nvPr/>
        </p:nvSpPr>
        <p:spPr>
          <a:xfrm>
            <a:off x="1131369" y="5655960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Render 3D de un recinto paralelepípedo con dos fuentes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973236F7-B7D4-5580-6C54-7345072C7180}"/>
              </a:ext>
            </a:extLst>
          </p:cNvPr>
          <p:cNvSpPr txBox="1"/>
          <p:nvPr/>
        </p:nvSpPr>
        <p:spPr>
          <a:xfrm>
            <a:off x="4950693" y="5646435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Render 3D de un modo del recinto afectado por ambas fuentes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CE8912B8-20E2-E2D5-23A2-ACB167890225}"/>
              </a:ext>
            </a:extLst>
          </p:cNvPr>
          <p:cNvSpPr txBox="1"/>
          <p:nvPr/>
        </p:nvSpPr>
        <p:spPr>
          <a:xfrm>
            <a:off x="946905" y="1500164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1" dirty="0">
                <a:solidFill>
                  <a:srgbClr val="2B6CB0"/>
                </a:solidFill>
                <a:latin typeface="Arial"/>
              </a:rPr>
              <a:t>Ejemplo de </a:t>
            </a:r>
            <a:r>
              <a:rPr lang="es-AR" sz="1300" b="1" dirty="0" err="1">
                <a:solidFill>
                  <a:srgbClr val="2B6CB0"/>
                </a:solidFill>
                <a:latin typeface="Arial"/>
              </a:rPr>
              <a:t>visualizacion</a:t>
            </a:r>
            <a:endParaRPr sz="1300" b="1" dirty="0">
              <a:solidFill>
                <a:srgbClr val="2B6CB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7024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E6B024-FCDA-3E98-92E4-CF6EBEED30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25</a:t>
            </a:fld>
            <a:r>
              <a:rPr lang="es-AR" dirty="0"/>
              <a:t>/</a:t>
            </a:r>
            <a:r>
              <a:rPr lang="es-AR" dirty="0" err="1"/>
              <a:t>TotNum</a:t>
            </a:r>
            <a:endParaRPr lang="es-AR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B383F1F-0A03-5159-6AD6-359454673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851" y="1813433"/>
            <a:ext cx="6608174" cy="4030705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4DDF0CB0-A05A-8238-BC47-A2BF0362A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9676"/>
            <a:ext cx="5040228" cy="485647"/>
          </a:xfrm>
        </p:spPr>
        <p:txBody>
          <a:bodyPr/>
          <a:lstStyle/>
          <a:p>
            <a:r>
              <a:rPr lang="es-AR" dirty="0"/>
              <a:t>Recinto paralelepípedo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B7B730E2-1D1F-CB3E-7896-BA6A39FF5A73}"/>
              </a:ext>
            </a:extLst>
          </p:cNvPr>
          <p:cNvSpPr txBox="1"/>
          <p:nvPr/>
        </p:nvSpPr>
        <p:spPr>
          <a:xfrm>
            <a:off x="946905" y="1500164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1" dirty="0">
                <a:solidFill>
                  <a:srgbClr val="2B6CB0"/>
                </a:solidFill>
                <a:latin typeface="Arial"/>
              </a:rPr>
              <a:t>Ejemplo de </a:t>
            </a:r>
            <a:r>
              <a:rPr lang="es-AR" sz="1300" b="1" dirty="0" err="1">
                <a:solidFill>
                  <a:srgbClr val="2B6CB0"/>
                </a:solidFill>
                <a:latin typeface="Arial"/>
              </a:rPr>
              <a:t>visualizacion</a:t>
            </a:r>
            <a:endParaRPr sz="1300" b="1" dirty="0">
              <a:solidFill>
                <a:srgbClr val="2B6CB0"/>
              </a:solidFill>
              <a:latin typeface="Arial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B3B9417F-4019-8A08-BA98-A3A18910904A}"/>
              </a:ext>
            </a:extLst>
          </p:cNvPr>
          <p:cNvSpPr txBox="1"/>
          <p:nvPr/>
        </p:nvSpPr>
        <p:spPr>
          <a:xfrm>
            <a:off x="2554605" y="5763243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Render 2D de un modo del recinto paralelepípedo con dos fuentes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5BE8E95-A6F9-1ECB-498D-072BDC5C71C4}"/>
              </a:ext>
            </a:extLst>
          </p:cNvPr>
          <p:cNvSpPr/>
          <p:nvPr/>
        </p:nvSpPr>
        <p:spPr>
          <a:xfrm>
            <a:off x="2671019" y="4927437"/>
            <a:ext cx="171450" cy="1619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E4524D7-49E8-D177-5C27-D9981F5B5D86}"/>
              </a:ext>
            </a:extLst>
          </p:cNvPr>
          <p:cNvSpPr/>
          <p:nvPr/>
        </p:nvSpPr>
        <p:spPr>
          <a:xfrm>
            <a:off x="5195144" y="3682260"/>
            <a:ext cx="171450" cy="1619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Triángulo isósceles 17">
            <a:extLst>
              <a:ext uri="{FF2B5EF4-FFF2-40B4-BE49-F238E27FC236}">
                <a16:creationId xmlns:a16="http://schemas.microsoft.com/office/drawing/2014/main" id="{1D24C788-7C4A-7E53-0346-8863DAA62503}"/>
              </a:ext>
            </a:extLst>
          </p:cNvPr>
          <p:cNvSpPr/>
          <p:nvPr/>
        </p:nvSpPr>
        <p:spPr>
          <a:xfrm>
            <a:off x="4303302" y="3602552"/>
            <a:ext cx="308811" cy="28843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A8A60D6-69BA-9A60-7483-2D3389AAEC19}"/>
              </a:ext>
            </a:extLst>
          </p:cNvPr>
          <p:cNvSpPr txBox="1"/>
          <p:nvPr/>
        </p:nvSpPr>
        <p:spPr>
          <a:xfrm>
            <a:off x="4297603" y="3890989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R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3596E5E-A1B4-B493-AC4F-598CB0E41DBD}"/>
              </a:ext>
            </a:extLst>
          </p:cNvPr>
          <p:cNvSpPr txBox="1"/>
          <p:nvPr/>
        </p:nvSpPr>
        <p:spPr>
          <a:xfrm>
            <a:off x="5078730" y="3886401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S1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719B2BB-AC66-F9E3-828A-3F250F50F1F0}"/>
              </a:ext>
            </a:extLst>
          </p:cNvPr>
          <p:cNvSpPr txBox="1"/>
          <p:nvPr/>
        </p:nvSpPr>
        <p:spPr>
          <a:xfrm>
            <a:off x="2554605" y="5131578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S2</a:t>
            </a:r>
          </a:p>
        </p:txBody>
      </p:sp>
    </p:spTree>
    <p:extLst>
      <p:ext uri="{BB962C8B-B14F-4D97-AF65-F5344CB8AC3E}">
        <p14:creationId xmlns:p14="http://schemas.microsoft.com/office/powerpoint/2010/main" val="232905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99A539-AF5E-5861-9786-5A51C4E559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26</a:t>
            </a:fld>
            <a:r>
              <a:rPr lang="es-AR"/>
              <a:t>/TotNum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3316EE-0590-6245-7420-1E86A11AB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25" y="1278310"/>
            <a:ext cx="7879038" cy="240549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71522015-4F16-9BB3-41FA-4EDC3261B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9676"/>
            <a:ext cx="5040228" cy="485647"/>
          </a:xfrm>
        </p:spPr>
        <p:txBody>
          <a:bodyPr/>
          <a:lstStyle/>
          <a:p>
            <a:r>
              <a:rPr lang="es-AR" dirty="0"/>
              <a:t>Recinto paralelepípedo FRF/SBIR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4C9C71C-A1A7-C592-76F9-1807C99D0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411" y="3683806"/>
            <a:ext cx="5794325" cy="239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95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Los tres ejes de predicción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22 / 26</a:t>
            </a:r>
          </a:p>
        </p:txBody>
      </p:sp>
      <p:pic>
        <p:nvPicPr>
          <p:cNvPr id="6" name="Picture 5" descr="fig7_ej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15363"/>
            <a:ext cx="7955279" cy="46556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2C90F7-6AA5-579F-9DD1-0A82CE02BBF1}"/>
              </a:ext>
            </a:extLst>
          </p:cNvPr>
          <p:cNvSpPr txBox="1"/>
          <p:nvPr/>
        </p:nvSpPr>
        <p:spPr>
          <a:xfrm>
            <a:off x="3707130" y="5899609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Los tres ejes de predicción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Pregunta de investigación y 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Arial"/>
              </a:rPr>
              <a:t>24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Pregunta de investigación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78638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Arial"/>
              </a:rPr>
              <a:t>¿Cuál es el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mínimo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quiebre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geométrico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(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desplazamiento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un plano)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que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mejora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la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uniformidad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modal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encima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del umbral perceptible, y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que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supere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a lo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que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se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logra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sólo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reubicando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fuente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y receptor?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548649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1" dirty="0">
                <a:solidFill>
                  <a:srgbClr val="2B6CB0"/>
                </a:solidFill>
                <a:latin typeface="Arial"/>
              </a:rPr>
              <a:t>¿Cómo usar el Super </a:t>
            </a:r>
            <a:r>
              <a:rPr lang="es-AR" sz="1300" b="1" dirty="0" err="1">
                <a:solidFill>
                  <a:srgbClr val="2B6CB0"/>
                </a:solidFill>
                <a:latin typeface="Arial"/>
              </a:rPr>
              <a:t>Calculator</a:t>
            </a:r>
            <a:r>
              <a:rPr lang="es-AR" sz="1300" b="1" dirty="0">
                <a:solidFill>
                  <a:srgbClr val="2B6CB0"/>
                </a:solidFill>
                <a:latin typeface="Arial"/>
              </a:rPr>
              <a:t> para investigar?</a:t>
            </a:r>
            <a:endParaRPr sz="1300" b="1" dirty="0">
              <a:solidFill>
                <a:srgbClr val="2B6CB0"/>
              </a:solidFill>
              <a:latin typeface="Arial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5A500FB-28CE-78A6-CF2C-C418D1974DAE}"/>
              </a:ext>
            </a:extLst>
          </p:cNvPr>
          <p:cNvSpPr txBox="1"/>
          <p:nvPr/>
        </p:nvSpPr>
        <p:spPr>
          <a:xfrm>
            <a:off x="658368" y="3968496"/>
            <a:ext cx="7863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500" b="0" dirty="0">
                <a:solidFill>
                  <a:srgbClr val="202020"/>
                </a:solidFill>
                <a:latin typeface="Arial"/>
              </a:rPr>
              <a:t>Se pueden guardar varios recintos y exportar sus respuestas en frecuencia. Probar varias configuraciones dejando alguna variable fija como la posición </a:t>
            </a:r>
            <a:r>
              <a:rPr lang="es-AR" sz="1500" dirty="0">
                <a:solidFill>
                  <a:srgbClr val="202020"/>
                </a:solidFill>
              </a:rPr>
              <a:t>de las fuentes o la cantidad de fuentes, mientras que se varia la geometría. Luego c</a:t>
            </a:r>
            <a:r>
              <a:rPr lang="es-AR" sz="1500" b="0" dirty="0">
                <a:solidFill>
                  <a:srgbClr val="202020"/>
                </a:solidFill>
                <a:latin typeface="Arial"/>
              </a:rPr>
              <a:t>omparar y notificar la variación de las soluciones.</a:t>
            </a:r>
            <a:endParaRPr sz="1500" b="0" dirty="0">
              <a:solidFill>
                <a:srgbClr val="20202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500"/>
              <a:t>Disparadores: ¿por qué P1 y no P2?  ·  ¿por qué no un AG?  ·  ¿malla escalonada vs boundary-fitted?  ·  ¿damping modal vs impedancia?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1538</Words>
  <Application>Microsoft Office PowerPoint</Application>
  <PresentationFormat>Presentación en pantalla (4:3)</PresentationFormat>
  <Paragraphs>177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Arial</vt:lpstr>
      <vt:lpstr>Calibri</vt:lpstr>
      <vt:lpstr>Noto Sans Symbols</vt:lpstr>
      <vt:lpstr>Tema de Office</vt:lpstr>
      <vt:lpstr>Super Calculator Room Oriented Treatment Optimyzer</vt:lpstr>
      <vt:lpstr>Acústica modal</vt:lpstr>
      <vt:lpstr>Acústica modal</vt:lpstr>
      <vt:lpstr>De la ecuación de onda a Helmholtz</vt:lpstr>
      <vt:lpstr>Modos propios del recinto</vt:lpstr>
      <vt:lpstr>Régimen modal: Schroeder y Weyl</vt:lpstr>
      <vt:lpstr>Respuesta forzada: FRF modal</vt:lpstr>
      <vt:lpstr>Absorción y tiempo de reverberación</vt:lpstr>
      <vt:lpstr>Geometría con quiebres</vt:lpstr>
      <vt:lpstr>Geometría con quiebres</vt:lpstr>
      <vt:lpstr>La interfaz gráfica</vt:lpstr>
      <vt:lpstr>¿Por qué un motor FEM y de mallado propio?</vt:lpstr>
      <vt:lpstr>¿Qué hace el Super Calculator?</vt:lpstr>
      <vt:lpstr>Arquitectura</vt:lpstr>
      <vt:lpstr>Motor de mallado</vt:lpstr>
      <vt:lpstr>Motor FEM</vt:lpstr>
      <vt:lpstr>Validación del solver</vt:lpstr>
      <vt:lpstr>¿De dónde salen los criterios de predicción?</vt:lpstr>
      <vt:lpstr>Proporciones óptimas del recinto</vt:lpstr>
      <vt:lpstr>Distribución modal pareja: Bonello y Rindel</vt:lpstr>
      <vt:lpstr>Umbral perceptual: Fazenda</vt:lpstr>
      <vt:lpstr>Gestión activa vs. proporción</vt:lpstr>
      <vt:lpstr>Figuras de mérito modales</vt:lpstr>
      <vt:lpstr>Recinto paralelepípedo</vt:lpstr>
      <vt:lpstr>Recinto paralelepípedo</vt:lpstr>
      <vt:lpstr>Recinto paralelepípedo FRF/SBIR</vt:lpstr>
      <vt:lpstr>Los tres ejes de predicción</vt:lpstr>
      <vt:lpstr>Pregunta de investigación y conclusión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 JAAS</dc:creator>
  <cp:lastModifiedBy>Tomas Acevedo</cp:lastModifiedBy>
  <cp:revision>21</cp:revision>
  <dcterms:created xsi:type="dcterms:W3CDTF">2016-08-31T23:02:04Z</dcterms:created>
  <dcterms:modified xsi:type="dcterms:W3CDTF">2026-07-03T03:30:34Z</dcterms:modified>
</cp:coreProperties>
</file>